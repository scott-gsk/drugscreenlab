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docs/reports/dual_route_weekly_progress_20260926.md，EXP-036/037/038/048/049权威产物。25%预训练增益为未多重校正次要比较；EXP-049为开发集比较。下一步内容是研究方案，作为拟开展的比较方案。源药敏训练集577—579个细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docs/reports/dual_route_weekly_progress_20260926.md，EXP-036/037/038/048/049权威产物。25%预训练增益为未多重校正次要比较；EXP-049为开发集比较。下一步内容是研究方案，作为拟开展的比较方案。源药敏训练集577—579个细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docs/reports/dual_route_weekly_progress_20260926.md，EXP-036/037/038/048/049权威产物。25%预训练增益为未多重校正次要比较；EXP-049为开发集比较。下一步内容是研究方案，作为拟开展的比较方案。源药敏训练集577—579个细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docs/reports/dual_route_weekly_progress_20260926.md，EXP-036/037/038/048/049权威产物。25%预训练增益为未多重校正次要比较；EXP-049为开发集比较。下一步内容是研究方案，作为拟开展的比较方案。源药敏训练集577—579个细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据：docs/reports/dual_route_weekly_progress_20260926.md，EXP-036/037/038/048/049权威产物。25%预训练增益为未多重校正次要比较；EXP-049为开发集比较。下一步内容是研究方案，作为拟开展的比较方案。源药敏训练集577—579个细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73152"/>
            <a:ext cx="11905488" cy="0"/>
          </a:xfrm>
          <a:prstGeom prst="line">
            <a:avLst/>
          </a:prstGeom>
          <a:noFill/>
          <a:ln w="21590">
            <a:solidFill>
              <a:srgbClr val="4374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182880"/>
            <a:ext cx="11201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0" b="1" dirty="0">
                <a:solidFill>
                  <a:srgbClr val="10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两条预测路线与融合验证：实验结果及方法改进方向</a:t>
            </a:r>
            <a:endParaRPr lang="en-US" sz="2320" dirty="0"/>
          </a:p>
        </p:txBody>
      </p:sp>
      <p:sp>
        <p:nvSpPr>
          <p:cNvPr id="4" name="Text 2"/>
          <p:cNvSpPr/>
          <p:nvPr/>
        </p:nvSpPr>
        <p:spPr>
          <a:xfrm>
            <a:off x="11576304" y="265176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46304" y="777240"/>
            <a:ext cx="11905488" cy="0"/>
          </a:xfrm>
          <a:prstGeom prst="line">
            <a:avLst/>
          </a:prstGeom>
          <a:noFill/>
          <a:ln w="21590">
            <a:solidFill>
              <a:srgbClr val="4374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932688"/>
            <a:ext cx="1157630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7D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60704"/>
            <a:ext cx="2029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研究目标与路线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542032" y="996696"/>
            <a:ext cx="9079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利用患者类器官的基因表达，对药物进行筛查并排序，寻找最可能有效的药。直接路线学习实测药敏，逆转路线学习药物引起的基因变化，再检验两类信息结合能否改善排序。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10896" y="1929384"/>
            <a:ext cx="11576304" cy="621792"/>
          </a:xfrm>
          <a:prstGeom prst="rect">
            <a:avLst/>
          </a:prstGeom>
          <a:solidFill>
            <a:srgbClr val="EAF1FB"/>
          </a:solidFill>
          <a:ln w="12700">
            <a:solidFill>
              <a:srgbClr val="4374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002536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7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主要结论：药敏数据少时，预训练改善排序；细胞状态调整、融合及基因功能分组均未胜过各自对照。</a:t>
            </a:r>
            <a:endParaRPr lang="en-US" sz="1670" dirty="0"/>
          </a:p>
        </p:txBody>
      </p:sp>
      <p:sp>
        <p:nvSpPr>
          <p:cNvPr id="11" name="Text 9"/>
          <p:cNvSpPr/>
          <p:nvPr/>
        </p:nvSpPr>
        <p:spPr>
          <a:xfrm>
            <a:off x="420624" y="2743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完成内容及其与总目标的关系</a:t>
            </a:r>
            <a:endParaRPr lang="en-US" sz="1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3127248"/>
          <a:ext cx="11439144" cy="2633472"/>
        </p:xfrm>
        <a:graphic>
          <a:graphicData uri="http://schemas.openxmlformats.org/drawingml/2006/table">
            <a:tbl>
              <a:tblPr/>
              <a:tblGrid>
                <a:gridCol w="1856232"/>
                <a:gridCol w="4626864"/>
                <a:gridCol w="495604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研究环节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实验设计与数据规模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b="1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主要结果与研究意义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直接药敏预测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51名患者、14种药。3档标签量、5折、3次重复。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训练集10—41名患者，测试集10—11名患者。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25%标签：预训练0.7353，从头训练0.7085。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少量患者药敏数据是预训练值得复验的场景。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药物扰动与疾病逆转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训练集56个细胞，测试集14个细胞。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表达变化评价176,785条件，逆转评价40,642条件。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启用状态调整误差1.4087，关闭后1.3388。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逆转排序相关0.3001，低于关闭状态调整的0.3481。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两路线融合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51名患者、9种药，357个实测组合。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5组模型、5折、3次重复，训练集20—21名患者。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融合0.6365，直接0.6321，扰动错配0.6353。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优先检查扰动信息是否补充了已有药物信息。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基因功能分组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20名开发患者，内部3折、18次拟合。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训练集13—14名患者，验证集6—7名患者。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按已知功能分组0.7644，随机分组0.7712。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6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分开验证模型本身、基因分组和来源预训练。</a:t>
                      </a:r>
                      <a:endParaRPr lang="en-US" sz="13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20624" y="5870448"/>
            <a:ext cx="11439144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C7D4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5961888"/>
            <a:ext cx="11146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方法改进重点</a:t>
            </a:r>
            <a:endParaRPr lang="en-US" sz="1620" dirty="0"/>
          </a:p>
        </p:txBody>
      </p:sp>
      <p:sp>
        <p:nvSpPr>
          <p:cNvPr id="15" name="Text 12"/>
          <p:cNvSpPr/>
          <p:nvPr/>
        </p:nvSpPr>
        <p:spPr>
          <a:xfrm>
            <a:off x="566928" y="6318504"/>
            <a:ext cx="111465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学习患者相对各药平均效果的差异；检验扰动是否增加信息；比较按已知功能分组与随机分组。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73152"/>
            <a:ext cx="11905488" cy="0"/>
          </a:xfrm>
          <a:prstGeom prst="line">
            <a:avLst/>
          </a:prstGeom>
          <a:noFill/>
          <a:ln w="21590">
            <a:solidFill>
              <a:srgbClr val="4374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182880"/>
            <a:ext cx="11201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0" b="1" dirty="0">
                <a:solidFill>
                  <a:srgbClr val="10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直接药敏预测：预训练在少量标签下改善训练，患者信息贡献仍是重点</a:t>
            </a:r>
            <a:endParaRPr lang="en-US" sz="2320" dirty="0"/>
          </a:p>
        </p:txBody>
      </p:sp>
      <p:sp>
        <p:nvSpPr>
          <p:cNvPr id="4" name="Text 2"/>
          <p:cNvSpPr/>
          <p:nvPr/>
        </p:nvSpPr>
        <p:spPr>
          <a:xfrm>
            <a:off x="11576304" y="265176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46304" y="777240"/>
            <a:ext cx="11905488" cy="0"/>
          </a:xfrm>
          <a:prstGeom prst="line">
            <a:avLst/>
          </a:prstGeom>
          <a:noFill/>
          <a:ln w="21590">
            <a:solidFill>
              <a:srgbClr val="4374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932688"/>
            <a:ext cx="1157630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7D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60704"/>
            <a:ext cx="2029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数据与训练方式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542032" y="996696"/>
            <a:ext cx="9079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名患者、14种药、535条实测药敏记录，每条对应一名患者与一种药。三档标签的训练集为10—11／20—21／40—41名患者，记录数见表。测试集10—11名患者、104—116条记录。PharmaFormer先在577—579个细胞系预训练，再用患者数据调整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10896" y="1929384"/>
            <a:ext cx="11576304" cy="621792"/>
          </a:xfrm>
          <a:prstGeom prst="rect">
            <a:avLst/>
          </a:prstGeom>
          <a:solidFill>
            <a:srgbClr val="EAF1FB"/>
          </a:solidFill>
          <a:ln w="12700">
            <a:solidFill>
              <a:srgbClr val="4374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002536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7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结论：训练记录较少时，预训练使排序从0.7085升至0.7353；记录增多后，逐药平均法以0.7681居首。</a:t>
            </a:r>
            <a:endParaRPr lang="en-US" sz="1670" dirty="0"/>
          </a:p>
        </p:txBody>
      </p:sp>
      <p:sp>
        <p:nvSpPr>
          <p:cNvPr id="11" name="Text 9"/>
          <p:cNvSpPr/>
          <p:nvPr/>
        </p:nvSpPr>
        <p:spPr>
          <a:xfrm>
            <a:off x="420624" y="2724912"/>
            <a:ext cx="11439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评价方法：按每位患者实测药敏给药物排序，再比较预测药序。相关系数1表示完全一致，0表示无排序相关，越高越好。</a:t>
            </a:r>
            <a:endParaRPr lang="en-US" sz="143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3209544"/>
          <a:ext cx="11439144" cy="1609344"/>
        </p:xfrm>
        <a:graphic>
          <a:graphicData uri="http://schemas.openxmlformats.org/drawingml/2006/table">
            <a:tbl>
              <a:tblPr/>
              <a:tblGrid>
                <a:gridCol w="2103120"/>
                <a:gridCol w="1435608"/>
                <a:gridCol w="1435608"/>
                <a:gridCol w="2148840"/>
                <a:gridCol w="2148840"/>
                <a:gridCol w="216712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b="1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标签比例／训练药敏记录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b="1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逐药均值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b="1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从头训练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b="1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预训练后只调输出层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b="1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预训练全量调整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b="1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预训练小模块调整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25%：103—119条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0.7203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0.7085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0.7258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b="1" dirty="0">
                          <a:solidFill>
                            <a:srgbClr val="4374B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0.7353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0.7239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50%：209—222条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0.7506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0.7473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b="1" dirty="0">
                          <a:solidFill>
                            <a:srgbClr val="4374B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0.7545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0.7495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0.7396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100%：419—431条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b="1" dirty="0">
                          <a:solidFill>
                            <a:srgbClr val="4374B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0.7681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0.7511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0.7578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0.7462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7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0.7608</a:t>
                      </a:r>
                      <a:endParaRPr lang="en-US" sz="137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20624" y="4965192"/>
            <a:ext cx="5632704" cy="1591056"/>
          </a:xfrm>
          <a:prstGeom prst="rect">
            <a:avLst/>
          </a:prstGeom>
          <a:solidFill>
            <a:srgbClr val="FFFFFF"/>
          </a:solidFill>
          <a:ln w="10160">
            <a:solidFill>
              <a:srgbClr val="C7D4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5056632"/>
            <a:ext cx="5340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结果分析：平均药物效果是强对照</a:t>
            </a:r>
            <a:endParaRPr lang="en-US" sz="1620" dirty="0"/>
          </a:p>
        </p:txBody>
      </p:sp>
      <p:sp>
        <p:nvSpPr>
          <p:cNvPr id="15" name="Text 12"/>
          <p:cNvSpPr/>
          <p:nvPr/>
        </p:nvSpPr>
        <p:spPr>
          <a:xfrm>
            <a:off x="566928" y="5413248"/>
            <a:ext cx="534009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逐药均值按训练患者计算每种药的平均效果，给所有新患者同一套药序。100%标签下它达到0.7681，高于从头训练0.7511。50%档表达×药物模型仅0.5192，仅药物模型0.7494。现有设计对患者差异的利用效果较差。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199632" y="4965192"/>
            <a:ext cx="5660136" cy="1591056"/>
          </a:xfrm>
          <a:prstGeom prst="rect">
            <a:avLst/>
          </a:prstGeom>
          <a:solidFill>
            <a:srgbClr val="FFFFFF"/>
          </a:solidFill>
          <a:ln w="10160">
            <a:solidFill>
              <a:srgbClr val="C7D4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45936" y="5056632"/>
            <a:ext cx="5367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改进方案：先平均效果，再患者差异</a:t>
            </a:r>
            <a:endParaRPr lang="en-US" sz="1620" dirty="0"/>
          </a:p>
        </p:txBody>
      </p:sp>
      <p:sp>
        <p:nvSpPr>
          <p:cNvPr id="18" name="Text 15"/>
          <p:cNvSpPr/>
          <p:nvPr/>
        </p:nvSpPr>
        <p:spPr>
          <a:xfrm>
            <a:off x="6345936" y="5413248"/>
            <a:ext cx="536752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保留各药平均效果，用患者表达预测其药敏偏离平均的部分。与逐药均值、仅药物模型和表达打乱比较。在训练侧复验25%标签预训练的0.0267增益（95%区间0.0160—0.0382），再用新增患者数据检验排序是否持续提高。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73152"/>
            <a:ext cx="11905488" cy="0"/>
          </a:xfrm>
          <a:prstGeom prst="line">
            <a:avLst/>
          </a:prstGeom>
          <a:noFill/>
          <a:ln w="21590">
            <a:solidFill>
              <a:srgbClr val="4374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182880"/>
            <a:ext cx="11201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0" b="1" dirty="0">
                <a:solidFill>
                  <a:srgbClr val="10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药物扰动预测：当前状态交互模型较差，需检验状态编码与训练方式</a:t>
            </a:r>
            <a:endParaRPr lang="en-US" sz="2320" dirty="0"/>
          </a:p>
        </p:txBody>
      </p:sp>
      <p:sp>
        <p:nvSpPr>
          <p:cNvPr id="4" name="Text 2"/>
          <p:cNvSpPr/>
          <p:nvPr/>
        </p:nvSpPr>
        <p:spPr>
          <a:xfrm>
            <a:off x="11576304" y="265176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46304" y="777240"/>
            <a:ext cx="11905488" cy="0"/>
          </a:xfrm>
          <a:prstGeom prst="line">
            <a:avLst/>
          </a:prstGeom>
          <a:noFill/>
          <a:ln w="21590">
            <a:solidFill>
              <a:srgbClr val="4374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932688"/>
            <a:ext cx="1157630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7D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60704"/>
            <a:ext cx="2029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模型与细胞状态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542032" y="996696"/>
            <a:ext cx="9079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项目实现的小型神经网络：一部分预测药物共有的作用，另一部分根据细胞状态调整预测。“细胞状态”是匹配载体对照的978个基因表达值。两组都输入药物结构、剂量、处理时长，区别是是否启用状态调整部分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10896" y="1929384"/>
            <a:ext cx="11576304" cy="621792"/>
          </a:xfrm>
          <a:prstGeom prst="rect">
            <a:avLst/>
          </a:prstGeom>
          <a:solidFill>
            <a:srgbClr val="EAF1FB"/>
          </a:solidFill>
          <a:ln w="12700">
            <a:solidFill>
              <a:srgbClr val="4374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002536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7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结论：加入细胞状态后，基因变化预测误差升至1.4087，逆转药序相关降至0.3001；当前实现未从状态输入获益。</a:t>
            </a:r>
            <a:endParaRPr lang="en-US" sz="1670" dirty="0"/>
          </a:p>
        </p:txBody>
      </p:sp>
      <p:sp>
        <p:nvSpPr>
          <p:cNvPr id="11" name="Text 9"/>
          <p:cNvSpPr/>
          <p:nvPr/>
        </p:nvSpPr>
        <p:spPr>
          <a:xfrm>
            <a:off x="420624" y="2761488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预测基因变化：细胞状态是否改善预测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0624" y="3108960"/>
            <a:ext cx="5614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训练集56个细胞、126,534—179,799个处理条件。测试累计70个细胞、176,785条件。模型输出978个基因的表达变化，标准化平方误差越低越好。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3931920"/>
          <a:ext cx="5614416" cy="1609344"/>
        </p:xfrm>
        <a:graphic>
          <a:graphicData uri="http://schemas.openxmlformats.org/drawingml/2006/table">
            <a:tbl>
              <a:tblPr/>
              <a:tblGrid>
                <a:gridCol w="4023360"/>
                <a:gridCol w="1591056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同一网络的比较设置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预测误差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启用细胞状态调整部分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1.4087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关闭细胞状态调整部分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374B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1.3388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训练侧逐药平均变化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1.3796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217920" y="2761488"/>
            <a:ext cx="5641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疾病逆转排序：预测与实测是否一致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217920" y="3108960"/>
            <a:ext cx="56418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用结直肠肿瘤相对正常的表达差异作参照，评价药物变化是否反向调节疾病异常。30个测试细胞、40,642条件。比较预测与实测的逆转药序，相关越高越好。</a:t>
            </a:r>
            <a:endParaRPr lang="en-US" sz="14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3931920"/>
          <a:ext cx="5641848" cy="1609344"/>
        </p:xfrm>
        <a:graphic>
          <a:graphicData uri="http://schemas.openxmlformats.org/drawingml/2006/table">
            <a:tbl>
              <a:tblPr/>
              <a:tblGrid>
                <a:gridCol w="3977640"/>
                <a:gridCol w="166420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相同模型的逆转排序结果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逆转排序相关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启用细胞状态调整部分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0.3001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关闭细胞状态调整部分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374B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0.3481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训练侧逐药平均变化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0.3410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420624" y="5660136"/>
            <a:ext cx="11439144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7D4E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6928" y="5751576"/>
            <a:ext cx="11146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结果判断与改进方案</a:t>
            </a:r>
            <a:endParaRPr lang="en-US" sz="1620" dirty="0"/>
          </a:p>
        </p:txBody>
      </p:sp>
      <p:sp>
        <p:nvSpPr>
          <p:cNvPr id="19" name="Text 15"/>
          <p:cNvSpPr/>
          <p:nvPr/>
        </p:nvSpPr>
        <p:spPr>
          <a:xfrm>
            <a:off x="566928" y="6108192"/>
            <a:ext cx="11146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与关闭状态调整相比，表达误差增加0.0699，逆转药序相关降低0.0480。下一步先学药物对各细胞共有的作用，再单独学习细胞差异；同时打乱状态输入，检验模型是否真的使用了细胞信息。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73152"/>
            <a:ext cx="11905488" cy="0"/>
          </a:xfrm>
          <a:prstGeom prst="line">
            <a:avLst/>
          </a:prstGeom>
          <a:noFill/>
          <a:ln w="21590">
            <a:solidFill>
              <a:srgbClr val="4374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182880"/>
            <a:ext cx="11201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0" b="1" dirty="0">
                <a:solidFill>
                  <a:srgbClr val="10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双路线融合：完成五组对照，当前增益较小，先验证信息互补</a:t>
            </a:r>
            <a:endParaRPr lang="en-US" sz="2320" dirty="0"/>
          </a:p>
        </p:txBody>
      </p:sp>
      <p:sp>
        <p:nvSpPr>
          <p:cNvPr id="4" name="Text 2"/>
          <p:cNvSpPr/>
          <p:nvPr/>
        </p:nvSpPr>
        <p:spPr>
          <a:xfrm>
            <a:off x="11576304" y="265176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46304" y="777240"/>
            <a:ext cx="11905488" cy="0"/>
          </a:xfrm>
          <a:prstGeom prst="line">
            <a:avLst/>
          </a:prstGeom>
          <a:noFill/>
          <a:ln w="21590">
            <a:solidFill>
              <a:srgbClr val="4374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932688"/>
            <a:ext cx="1157630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7D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60704"/>
            <a:ext cx="2029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实验背景与规模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542032" y="996696"/>
            <a:ext cx="9079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患者表达反映患者差异，药物结构和扰动描述药物特征。51名患者、9种药、357个实测组合。训练集20—21名患者，测试集10—11名患者，采用5折划分、3次重复。扰动特征来自MCF7细胞系，给药条件为10 µM、24小时。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10896" y="1929384"/>
            <a:ext cx="11576304" cy="621792"/>
          </a:xfrm>
          <a:prstGeom prst="rect">
            <a:avLst/>
          </a:prstGeom>
          <a:solidFill>
            <a:srgbClr val="EAF1FB"/>
          </a:solidFill>
          <a:ln w="12700">
            <a:solidFill>
              <a:srgbClr val="4374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002536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7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结论：融合排序0.6365，仅比直接预测0.6321高0.0044，也与扰动错配0.6353接近；尚未确认融合提高筛药准确度。</a:t>
            </a:r>
            <a:endParaRPr lang="en-US" sz="1670" dirty="0"/>
          </a:p>
        </p:txBody>
      </p:sp>
      <p:sp>
        <p:nvSpPr>
          <p:cNvPr id="11" name="Text 9"/>
          <p:cNvSpPr/>
          <p:nvPr/>
        </p:nvSpPr>
        <p:spPr>
          <a:xfrm>
            <a:off x="420624" y="274320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五组模型的输入、结果及比较目的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3108960"/>
          <a:ext cx="11439144" cy="2322576"/>
        </p:xfrm>
        <a:graphic>
          <a:graphicData uri="http://schemas.openxmlformats.org/drawingml/2006/table">
            <a:tbl>
              <a:tblPr/>
              <a:tblGrid>
                <a:gridCol w="1874520"/>
                <a:gridCol w="7479792"/>
                <a:gridCol w="208483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实际输入与比较目的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药敏排序相关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直接预测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患者表达＋药物结构，作为单路线基准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0.6321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扰动单路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药物结构＋扰动变化，检查扰动单独的表现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0.6177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等容量直接模型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仍用患者表达＋药物结构，参数数量与融合相同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0.6141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扰动错配融合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三类输入齐全，故意把药物与扰动对错，检查对应关系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0.6353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双路线融合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患者表达＋药物结构＋正确对应的扰动变化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374B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0.6365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20624" y="5577840"/>
            <a:ext cx="5632704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C7D4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5669280"/>
            <a:ext cx="5340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结果分析：新增扰动信息作用很小</a:t>
            </a:r>
            <a:endParaRPr lang="en-US" sz="1620" dirty="0"/>
          </a:p>
        </p:txBody>
      </p:sp>
      <p:sp>
        <p:nvSpPr>
          <p:cNvPr id="15" name="Text 12"/>
          <p:cNvSpPr/>
          <p:nvPr/>
        </p:nvSpPr>
        <p:spPr>
          <a:xfrm>
            <a:off x="566928" y="6025896"/>
            <a:ext cx="53400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融合比直接预测高0.0044，95%区间−0.0198至+0.0271；比故意错配扰动高0.0012，区间−0.0221至+0.0248。两项区间都包含0。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199632" y="5577840"/>
            <a:ext cx="5660136" cy="1133856"/>
          </a:xfrm>
          <a:prstGeom prst="rect">
            <a:avLst/>
          </a:prstGeom>
          <a:solidFill>
            <a:srgbClr val="FFFFFF"/>
          </a:solidFill>
          <a:ln w="10160">
            <a:solidFill>
              <a:srgbClr val="C7D4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45936" y="5669280"/>
            <a:ext cx="5367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改进方向：先确认扰动额外提供了什么</a:t>
            </a:r>
            <a:endParaRPr lang="en-US" sz="1620" dirty="0"/>
          </a:p>
        </p:txBody>
      </p:sp>
      <p:sp>
        <p:nvSpPr>
          <p:cNvPr id="18" name="Text 15"/>
          <p:cNvSpPr/>
          <p:nvPr/>
        </p:nvSpPr>
        <p:spPr>
          <a:xfrm>
            <a:off x="6345936" y="6025896"/>
            <a:ext cx="53675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先用药物结构预测扰动特征，再把剩余部分与患者表达结合。比较直接、正确扰动、错配扰动及等容量模型。优先推进同时高于直接和错配的候选。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73152"/>
            <a:ext cx="11905488" cy="0"/>
          </a:xfrm>
          <a:prstGeom prst="line">
            <a:avLst/>
          </a:prstGeom>
          <a:noFill/>
          <a:ln w="21590">
            <a:solidFill>
              <a:srgbClr val="4374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" y="182880"/>
            <a:ext cx="11201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20" b="1" dirty="0">
                <a:solidFill>
                  <a:srgbClr val="1010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按生物过程给基因分组：未比随机分组提高药敏排序</a:t>
            </a:r>
            <a:endParaRPr lang="en-US" sz="2320" dirty="0"/>
          </a:p>
        </p:txBody>
      </p:sp>
      <p:sp>
        <p:nvSpPr>
          <p:cNvPr id="4" name="Text 2"/>
          <p:cNvSpPr/>
          <p:nvPr/>
        </p:nvSpPr>
        <p:spPr>
          <a:xfrm>
            <a:off x="11576304" y="265176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46304" y="777240"/>
            <a:ext cx="11905488" cy="0"/>
          </a:xfrm>
          <a:prstGeom prst="line">
            <a:avLst/>
          </a:prstGeom>
          <a:noFill/>
          <a:ln w="21590">
            <a:solidFill>
              <a:srgbClr val="4374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932688"/>
            <a:ext cx="1157630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7D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60704"/>
            <a:ext cx="2029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目的与具体做法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542032" y="996696"/>
            <a:ext cx="9079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按预定义的50组生物过程或细胞状态基因集合（Hallmark）汇总表达，再结合药物特征预测药敏。覆盖4,366个基因；这里只使用基因属于哪一组的信息，没有使用基因间的连接关系。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10896" y="1929384"/>
            <a:ext cx="11576304" cy="621792"/>
          </a:xfrm>
          <a:prstGeom prst="rect">
            <a:avLst/>
          </a:prstGeom>
          <a:solidFill>
            <a:srgbClr val="EAF1FB"/>
          </a:solidFill>
          <a:ln w="12700">
            <a:solidFill>
              <a:srgbClr val="4374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002536"/>
            <a:ext cx="11155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7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结论：按真实基因集合分组得0.7644，低于随机分组和不分组的0.7712；本次未看到这种分组改善药敏排序。</a:t>
            </a:r>
            <a:endParaRPr lang="en-US" sz="1670" dirty="0"/>
          </a:p>
        </p:txBody>
      </p:sp>
      <p:sp>
        <p:nvSpPr>
          <p:cNvPr id="11" name="Text 9"/>
          <p:cNvSpPr/>
          <p:nvPr/>
        </p:nvSpPr>
        <p:spPr>
          <a:xfrm>
            <a:off x="420624" y="2724912"/>
            <a:ext cx="114391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数据：20名开发患者、209条药敏记录。训练集13／13／14名患者，验证集7／7／6名患者，共18次拟合。分数来自开发验证集，验证用于早停和评分。</a:t>
            </a:r>
            <a:endParaRPr lang="en-US" sz="141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3200400"/>
          <a:ext cx="11439144" cy="2212848"/>
        </p:xfrm>
        <a:graphic>
          <a:graphicData uri="http://schemas.openxmlformats.org/drawingml/2006/table">
            <a:tbl>
              <a:tblPr/>
              <a:tblGrid>
                <a:gridCol w="9427464"/>
                <a:gridCol w="20116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模型设置与检验目的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排序相关（越高越好）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Hallmark基因集分组：按真实集合成员汇总基因表达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0.7644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随机分组：保持分组大小，打乱基因归属；三组结果平均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374B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0.7712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普通稀疏分组：按少量固定连接汇总表达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0.7672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不加基因集分组：仅使用原药敏模型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374B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0.7712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逐药均值：用训练患者的平均药敏给药排序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0.7436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77724" marB="77724">
                    <a:lnL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7E8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20624" y="5696712"/>
            <a:ext cx="5632704" cy="1014984"/>
          </a:xfrm>
          <a:prstGeom prst="rect">
            <a:avLst/>
          </a:prstGeom>
          <a:solidFill>
            <a:srgbClr val="FFFFFF"/>
          </a:solidFill>
          <a:ln w="10160">
            <a:solidFill>
              <a:srgbClr val="C7D4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5788152"/>
            <a:ext cx="5340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真实基因集合未带来提升</a:t>
            </a:r>
            <a:endParaRPr lang="en-US" sz="1620" dirty="0"/>
          </a:p>
        </p:txBody>
      </p:sp>
      <p:sp>
        <p:nvSpPr>
          <p:cNvPr id="15" name="Text 12"/>
          <p:cNvSpPr/>
          <p:nvPr/>
        </p:nvSpPr>
        <p:spPr>
          <a:xfrm>
            <a:off x="566928" y="6144768"/>
            <a:ext cx="53400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随机分组只改变哪些基因放在一起；排序相关0.7712，高于真实分组的0.7644。不分组也是0.7712。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199632" y="5696712"/>
            <a:ext cx="5660136" cy="1014984"/>
          </a:xfrm>
          <a:prstGeom prst="rect">
            <a:avLst/>
          </a:prstGeom>
          <a:solidFill>
            <a:srgbClr val="FFFFFF"/>
          </a:solidFill>
          <a:ln w="10160">
            <a:solidFill>
              <a:srgbClr val="C7D4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45936" y="5788152"/>
            <a:ext cx="5367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1E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实验意义与改进方向</a:t>
            </a:r>
            <a:endParaRPr lang="en-US" sz="1620" dirty="0"/>
          </a:p>
        </p:txBody>
      </p:sp>
      <p:sp>
        <p:nvSpPr>
          <p:cNvPr id="18" name="Text 15"/>
          <p:cNvSpPr/>
          <p:nvPr/>
        </p:nvSpPr>
        <p:spPr>
          <a:xfrm>
            <a:off x="6345936" y="6144768"/>
            <a:ext cx="5367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16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真实分组比随机分组低0.0068（95%区间−0.0188至+0.0038）。下一步单独检验原模型和细胞系预训练。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双路线药物筛选研究进展</dc:title>
  <dc:subject>双路线药物筛选实验结果</dc:subject>
  <dc:creator>DrugScreenLab</dc:creator>
  <cp:lastModifiedBy>DrugScreenLab</cp:lastModifiedBy>
  <cp:revision>1</cp:revision>
  <dcterms:created xsi:type="dcterms:W3CDTF">2026-09-27T16:03:15Z</dcterms:created>
  <dcterms:modified xsi:type="dcterms:W3CDTF">2026-09-27T16:03:15Z</dcterms:modified>
</cp:coreProperties>
</file>