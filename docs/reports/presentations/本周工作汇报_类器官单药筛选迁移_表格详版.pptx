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本周结论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3616B"/>
                </a:solidFill>
              </a:defRPr>
            </a:pPr>
            <a:r>
              <a:t>类器官单药筛选跨模型迁移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1143000"/>
          </a:xfrm>
          <a:prstGeom prst="rect">
            <a:avLst/>
          </a:prstGeom>
          <a:solidFill>
            <a:srgbClr val="EEF4F7"/>
          </a:solidFill>
          <a:ln>
            <a:solidFill>
              <a:srgbClr val="EEF4F7"/>
            </a:solidFill>
          </a:ln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7324D"/>
                </a:solidFill>
              </a:defRPr>
            </a:pPr>
            <a:r>
              <a:t>完成第一轮验证：细胞系模型能识别部分表达信号，但在当前类器官队列上尚未超过简单基线。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063240"/>
          <a:ext cx="106984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51816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本周已完成</a:t>
                      </a:r>
                    </a:p>
                  </a:txBody>
                  <a:tcPr marL="54864" marR="54864" marT="27432" marB="27432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当前判断</a:t>
                      </a:r>
                    </a:p>
                  </a:txBody>
                  <a:tcPr marL="54864" marR="54864" marT="27432" marB="27432">
                    <a:solidFill>
                      <a:srgbClr val="2F6B8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7324D"/>
                          </a:solidFill>
                        </a:defRPr>
                      </a:pPr>
                      <a:r>
                        <a:t>方案设计、来源模型验证、类器官适配、功能数据初测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7324D"/>
                          </a:solidFill>
                        </a:defRPr>
                      </a:pPr>
                      <a:r>
                        <a:t>模型链路已打通，但迁移有效性尚未成立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7324D"/>
                          </a:solidFill>
                        </a:defRPr>
                      </a:pPr>
                      <a:r>
                        <a:t>PRISM身份与药物覆盖审计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17324D"/>
                          </a:solidFill>
                        </a:defRPr>
                      </a:pPr>
                      <a:r>
                        <a:t>具备开展跨研究外部验证的条件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074920"/>
            <a:ext cx="106984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100" b="1">
                <a:solidFill>
                  <a:srgbClr val="17324D"/>
                </a:solidFill>
              </a:defRPr>
            </a:pPr>
            <a:r>
              <a:t>下周重点：外部验证 + 补充PDO数据 + 固化可靠基线。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关键进展 1｜完成可验证的筛药方案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3616B"/>
                </a:solidFill>
              </a:defRPr>
            </a:pPr>
            <a:r>
              <a:t>动作 + 结果 + 对项目的意义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11018519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074"/>
                <a:gridCol w="4187037"/>
                <a:gridCol w="4407408"/>
              </a:tblGrid>
              <a:tr h="795527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本周动作</a:t>
                      </a:r>
                    </a:p>
                  </a:txBody>
                  <a:tcPr marL="54864" marR="54864" marT="27432" marB="27432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形成的具体内容</a:t>
                      </a:r>
                    </a:p>
                  </a:txBody>
                  <a:tcPr marL="54864" marR="54864" marT="27432" marB="27432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带来的结果</a:t>
                      </a:r>
                    </a:p>
                  </a:txBody>
                  <a:tcPr marL="54864" marR="54864" marT="27432" marB="27432">
                    <a:solidFill>
                      <a:srgbClr val="2F6B8A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明确研究问题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用细胞系药敏信息辅助PDO候选单药排序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研究目标从“训练模型”转为“支持药物优先级判断”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固定输入输出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输入：基线表达、药物结构；输出：药物排序、Top候选、解释依据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后续不同模型可在同一任务上公平比较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固定评价规则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患者留出；以患者内排序为主；与简单基线比较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降低数据泄漏和药物普遍效应造成的虚高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</a:tr>
              <a:tr h="795531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明确证据边界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研究级预筛选，不直接等同临床疗效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避免将算法结果外推为患者治疗结论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关键进展 2｜来源模型识别到有限表达信号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3616B"/>
                </a:solidFill>
              </a:defRPr>
            </a:pPr>
            <a:r>
              <a:t>细胞系内部验证结果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11018519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074"/>
                <a:gridCol w="4187037"/>
                <a:gridCol w="4407408"/>
              </a:tblGrid>
              <a:tr h="7086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比较项</a:t>
                      </a:r>
                    </a:p>
                  </a:txBody>
                  <a:tcPr marL="54864" marR="54864" marT="27432" marB="27432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结果</a:t>
                      </a:r>
                    </a:p>
                  </a:txBody>
                  <a:tcPr marL="54864" marR="54864" marT="27432" marB="27432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 marL="54864" marR="54864" marT="27432" marB="27432">
                    <a:solidFill>
                      <a:srgbClr val="2F6B8A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药物平均敏感性基线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NDCG@5 ≈ 0.956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只利用药物的普遍作用强弱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表达 + 药物结构模型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NDCG@5 ≈ 0.963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相对提升约0.007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细胞内相关性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Spearman提升约0.03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对同一细胞的药物排序更贴近实测结果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表达反事实置换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同癌种内置换后下降；泛癌置换下降更明显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模型使用了部分细胞表达和癌种信息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本周结论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来源域存在有限表达信号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尚不能据此证明可以迁移到PDO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关键进展 3｜第一轮PDO验证未超过简单基线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3616B"/>
                </a:solidFill>
              </a:defRPr>
            </a:pPr>
            <a:r>
              <a:t>20个PDO｜严格匹配7种共同药物｜患者留出评估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88720"/>
          <a:ext cx="11018519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074"/>
                <a:gridCol w="4187037"/>
                <a:gridCol w="4407408"/>
              </a:tblGrid>
              <a:tr h="7239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模型/方法</a:t>
                      </a:r>
                    </a:p>
                  </a:txBody>
                  <a:tcPr marL="54864" marR="54864" marT="27432" marB="27432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排序结果</a:t>
                      </a:r>
                    </a:p>
                  </a:txBody>
                  <a:tcPr marL="54864" marR="54864" marT="27432" marB="27432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结果含义</a:t>
                      </a:r>
                    </a:p>
                  </a:txBody>
                  <a:tcPr marL="54864" marR="54864" marT="27432" marB="27432">
                    <a:solidFill>
                      <a:srgbClr val="2F6B8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简单药物平均敏感性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约0.748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当前最强基线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PDO自身表达模型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约0.68–0.73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小样本下未提取稳定个体化信号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直接使用细胞系模型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约0.61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出现明显负迁移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来源模型适配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约0.65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低自由度适配暂未解决负迁移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数据限制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20个PDO、7种共同药物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只能作为开发队列，不能作为独立外部验证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1">
                <a:solidFill>
                  <a:srgbClr val="17324D"/>
                </a:solidFill>
              </a:defRPr>
            </a:pPr>
            <a:r>
              <a:t>判断：当前瓶颈优先指向样本量、共同药物覆盖和表达尺度差异。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关键进展 4｜功能数据暂未改善最终筛药结果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3616B"/>
                </a:solidFill>
              </a:defRPr>
            </a:pPr>
            <a:r>
              <a:t>三维表达和类器官功能依赖的辅助训练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88720"/>
          <a:ext cx="11018519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074"/>
                <a:gridCol w="4187037"/>
                <a:gridCol w="4407408"/>
              </a:tblGrid>
              <a:tr h="859536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本周动作</a:t>
                      </a:r>
                    </a:p>
                  </a:txBody>
                  <a:tcPr marL="54864" marR="54864" marT="27432" marB="27432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观察到的结果</a:t>
                      </a:r>
                    </a:p>
                  </a:txBody>
                  <a:tcPr marL="54864" marR="54864" marT="27432" marB="27432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当前处理</a:t>
                      </a:r>
                    </a:p>
                  </a:txBody>
                  <a:tcPr marL="54864" marR="54864" marT="27432" marB="27432">
                    <a:solidFill>
                      <a:srgbClr val="2F6B8A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加入三维表达辅助任务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相对基础训练有变化，但未超过简单基线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保留为辅助信息，不作为主模型依据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加入类器官功能依赖监督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相对关闭辅助任务略有改善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尚不足以证明改善药物排序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功能标签置换对照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真实标签略优于置换结果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提示可能有方向性信号，但证据不足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PRISM外部验证准备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完成877→354个严格未见细胞筛选；104个共同药物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下一步执行正式跨研究测试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24D"/>
                </a:solidFill>
              </a:defRPr>
            </a:pPr>
            <a:r>
              <a:t>下周计划与所需支持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3616B"/>
                </a:solidFill>
              </a:defRPr>
            </a:pPr>
            <a:r>
              <a:t>每项计划对应一个可交付结果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43000"/>
          <a:ext cx="1101851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074"/>
                <a:gridCol w="4187037"/>
                <a:gridCol w="4407408"/>
              </a:tblGrid>
              <a:tr h="877824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计划</a:t>
                      </a:r>
                    </a:p>
                  </a:txBody>
                  <a:tcPr marL="54864" marR="54864" marT="27432" marB="27432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下周交付</a:t>
                      </a:r>
                    </a:p>
                  </a:txBody>
                  <a:tcPr marL="54864" marR="54864" marT="27432" marB="27432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需要支持</a:t>
                      </a:r>
                    </a:p>
                  </a:txBody>
                  <a:tcPr marL="54864" marR="54864" marT="27432" marB="27432">
                    <a:solidFill>
                      <a:srgbClr val="2F6B8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完成PRISM跨研究验证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确认表达信号能否在另一药敏研究的未见细胞上复现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维持当前计算资源和数据版本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补充第二个PDO队列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增加患者数，并扩大严格共同药物数量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协助确认可公开获取的表达—单药药敏配对数据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固化可靠PDO基线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形成稳定、可解释的类器官候选药物排序流程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确认后续优先癌种和候选药物范围</a:t>
                      </a:r>
                    </a:p>
                  </a:txBody>
                  <a:tcPr marL="54864" marR="54864" marT="27432" marB="27432">
                    <a:solidFill>
                      <a:srgbClr val="EEF4F7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形成继续/停止判断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若外部仍无增益，转向基线和负迁移边界；若有增益，再扩展通路和功能信息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324D"/>
                          </a:solidFill>
                        </a:defRPr>
                      </a:pPr>
                      <a:r>
                        <a:t>确认下一阶段资源投入优先级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760720"/>
            <a:ext cx="10698480" cy="411480"/>
          </a:xfrm>
          <a:prstGeom prst="rect">
            <a:avLst/>
          </a:prstGeom>
          <a:solidFill>
            <a:srgbClr val="EEF4F7"/>
          </a:solidFill>
          <a:ln>
            <a:solidFill>
              <a:srgbClr val="EEF4F7"/>
            </a:solidFill>
          </a:ln>
        </p:spPr>
        <p:txBody>
          <a:bodyPr wrap="square" lIns="73152" rIns="73152">
            <a:spAutoFit/>
          </a:bodyPr>
          <a:lstStyle/>
          <a:p>
            <a:pPr>
              <a:defRPr sz="1800" b="1">
                <a:solidFill>
                  <a:srgbClr val="17324D"/>
                </a:solidFill>
              </a:defRPr>
            </a:pPr>
            <a:r>
              <a:t>需要领导决策：是否支持获取第二个具备“表达 + 单药响应”配对数据的PDO队列。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