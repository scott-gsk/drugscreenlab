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7"/>
  </p:notesMasterIdLst>
  <p:sldIdLst>
    <p:sldId id="256" r:id="rId1"/>
    <p:sldId id="257" r:id="rId2"/>
    <p:sldId id="258" r:id="rId3"/>
    <p:sldId id="259" r:id="rId4"/>
    <p:sldId id="260" r:id="rId5"/>
  </p:sldIdLst>
  <p:sldSz cx="12192000" cy="6858000"/>
  <p:notesSz cx="6858000" cy="9144000"/>
  <p:defaultTextStyle/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0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0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0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0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0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来源：PROJECT_STATE.yaml；EXP-015至EXP-019；DPR_release/docs/模型信息与验证结果.md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来源：DPR模型信息与验证结果.md；EXP015_results_20260913.md；EXP-017；EXP-019；Nature 2026三篇论文</a:t>
            </a:r>
            <a:endParaRPr/>
          </a:p>
        </p:txBody>
      </p:sp>
      <p:sp>
        <p:nvSpPr>
          <p:cNvPr id="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来源：docs/experiments/EXP015_zhu_structure_gaps.md；EXP-015；EXP-017。Piperlongumine完整InChIKey差异为审计示例。</a:t>
            </a:r>
            <a:endParaRPr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来源：EXP016_EXP018_weekly_validation_20260913.md；EXP015_results_20260913.md；EXP-018</a:t>
            </a:r>
            <a:endParaRPr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来源：Nature 2026三篇论文及Data availability；EXP014_weekly_progress_20260913.md；EXP015_results_20260913.md；EXP-018、EXP-019</a:t>
            </a:r>
            <a:endParaRPr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5.xml"/></Relationships>
</file>

<file path=ppt/slides/slide1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F6B8A"/>
          </a:solidFill>
          <a:ln w="0">
            <a:solidFill>
              <a:srgbClr val="2F6B8A"/>
            </a:solidFill>
          </a:ln>
        </p:spPr>
        <p:txBody>
          <a:bodyPr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495300" y="285750"/>
            <a:ext cx="11144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本周结论：来源模型有表达信号，但跨疾病迁移尚无充分证据，外部类器官功能数据辅助增益也未成立</a:t>
            </a:r>
            <a:endParaRPr/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514350" y="781050"/>
            <a:ext cx="11049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125" b="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53616B"/>
                </a:solidFill>
                <a:latin typeface="Arial"/>
                <a:ea typeface="Arial"/>
                <a:cs typeface="Arial"/>
              </a:rPr>
              <a:t>类器官单药筛选跨模型迁移工作汇报</a:t>
            </a:r>
            <a:endParaRPr/>
          </a:p>
        </p:txBody>
      </p:sp>
      <p:sp>
        <p:nvSpPr>
          <p:cNvPr id="5" name=""/>
          <p:cNvSpPr>
            <a:spLocks noGrp="1"/>
          </p:cNvSpPr>
          <p:nvPr/>
        </p:nvSpPr>
        <p:spPr>
          <a:xfrm>
            <a:off x="495300" y="1181100"/>
            <a:ext cx="11201400" cy="914400"/>
          </a:xfrm>
          <a:prstGeom prst="roundRect">
            <a:avLst>
              <a:gd name="adj" fmla="val 8333"/>
            </a:avLst>
          </a:prstGeom>
          <a:solidFill>
            <a:srgbClr val="EEF4F7"/>
          </a:solidFill>
          <a:ln w="0">
            <a:solidFill>
              <a:srgbClr val="EEF4F7"/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lang="zh-CN"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本周完成了研究路线切换、跨数据集对齐、来源模型训练、PDO患者留出验证（20患者、54药、1,080条响应，严格7个共同药为主终点）、药物身份审计、外部类器官功能数据功能数据分析和外部验证准备。结果表明：模型链路能够运行；GDSC来源域存在小幅、初始化稳定的细胞特异表达信号（目前仅完成一个细胞划分）；Zhu开发队列中仅用PDO数据训练与迁移模型均未超过患者药物均值基线；外部类器官功能数据辅助训练仅有方向性线索，未达推进门槛。</a:t>
            </a:r>
            <a:endParaRPr lang="zh-CN" sz="1500" b="0">
              <a:solidFill>
                <a:srgbClr val="17324D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6" name=""/>
          <p:cNvGraphicFramePr/>
          <p:nvPr/>
        </p:nvGraphicFramePr>
        <p:xfrm>
          <a:off x="495300" y="2057400"/>
          <a:ext cx="11201400" cy="3657600"/>
        </p:xfrm>
        <a:graphic>
          <a:graphicData uri="http://schemas.openxmlformats.org/drawingml/2006/table">
            <a:tbl>
              <a:tblPr firstRow="1" bandRow="1"/>
              <a:tblGrid>
                <a:gridCol w="3733800">
                  <a:extLst>
                    <a:ext uri="{9D8B030D-6E8A-4147-A177-3AD203B41FA5}">
                      <a16:colId val="1"/>
                    </a:ext>
                  </a:extLst>
                </a:gridCol>
                <a:gridCol w="3733800">
                  <a:extLst>
                    <a:ext uri="{9D8B030D-6E8A-4147-A177-3AD203B41FA5}">
                      <a16:colId val="2"/>
                    </a:ext>
                  </a:extLst>
                </a:gridCol>
                <a:gridCol w="3733800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本周关键推进</a:t>
                      </a:r>
                      <a:endParaRPr/>
                    </a:p>
                  </a:txBody>
                  <a:tcPr marL="50800" marR="50800" marT="25400" marB="25400" anchor="t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实际完成量</a:t>
                      </a:r>
                      <a:endParaRPr/>
                    </a:p>
                  </a:txBody>
                  <a:tcPr marL="50800" marR="50800" marT="25400" marB="25400" anchor="t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形成的判断</a:t>
                      </a:r>
                      <a:endParaRPr/>
                    </a:p>
                  </a:txBody>
                  <a:tcPr marL="50800" marR="50800" marT="25400" marB="25400" anchor="t">
                    <a:solidFill>
                      <a:srgbClr val="2F6B8A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建立直接药敏迁移路线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963个细胞系、219药物、179,410条来源响应；20个PDO、54药、1,080条目标响应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前期TranSiGen/DPR资产可复用，但当前任务需重新建立药敏标签和患者评价</a:t>
                      </a:r>
                      <a:endParaRPr/>
                    </a:p>
                  </a:txBody>
                  <a:tcPr marL="50800" marR="50800" marT="25400" marB="25400" anchor="t"/>
                </a:tc>
                <a:extLst>
                  <a:ext uri="{0D108BD9-81ED-4DB2-BD59-A6C34878D82A}">
                    <a16:rowId val="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完成来源模型与PDO目标域实验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来源3个初始化和表达置换；PDO端完成3种子×5外折×3类模型，共90次目标拟合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>
                          <a:latin typeface="Arial"/>
                        </a:rPr>
                        <a:t>来源域有小幅表达信号（单划分三种子稳定）；Zhu各学习模型均未超过药物均值基线，跨疾病迁移证据不足</a:t>
                      </a:r>
                      <a:endParaRPr/>
                    </a:p>
                  </a:txBody>
                  <a:tcPr marL="50800" marR="50800" marT="25400" marB="25400" anchor="t"/>
                </a:tc>
                <a:extLst>
                  <a:ext uri="{0D108BD9-81ED-4DB2-BD59-A6C34878D82A}">
                    <a16:rowId val="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实际核验Nature数据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类器官功能库162模型/157患者配对；完成功能预测和下游辅助训练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>
                          <a:latin typeface="Arial"/>
                        </a:rPr>
                        <a:t>数据能够接入；依赖标签相对重建/置换对照增量极小（单种子），未达推进门槛</a:t>
                      </a:r>
                      <a:endParaRPr/>
                    </a:p>
                  </a:txBody>
                  <a:tcPr marL="50800" marR="50800" marT="25400" marB="25400" anchor="t"/>
                </a:tc>
                <a:extLst>
                  <a:ext uri="{0D108BD9-81ED-4DB2-BD59-A6C34878D82A}">
                    <a16:rowId val="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建立外部检验条件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PRISM 877个细胞排除523个来源重叠，保留354个未见细胞和104个共同药物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下一步可检验来源信号能否跨研究复现</a:t>
                      </a:r>
                      <a:endParaRPr/>
                    </a:p>
                  </a:txBody>
                  <a:tcPr marL="50800" marR="50800" marT="25400" marB="25400" anchor="t"/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7" name=""/>
          <p:cNvSpPr>
            <a:spLocks noGrp="1"/>
          </p:cNvSpPr>
          <p:nvPr/>
        </p:nvSpPr>
        <p:spPr>
          <a:xfrm>
            <a:off x="552450" y="5810250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lang="zh-CN" sz="12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需要决策：下一阶段优先补充独立 PDO 表达—单药响应队列，并完成 PRISM 外部验证；既有乳腺癌 PDO 外推（前期工作记录）为有限历史证据，见第 6 页。</a:t>
            </a:r>
            <a:endParaRPr lang="zh-CN" sz="1500" b="1">
              <a:solidFill>
                <a:srgbClr val="17324D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bg>
      <p:bgPr>
        <a:solidFill>
          <a:srgbClr val="FFFFFF"/>
        </a:solidFill>
      </p:bgPr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F6B8A"/>
          </a:solidFill>
          <a:ln w="0">
            <a:solidFill>
              <a:srgbClr val="2F6B8A"/>
            </a:solidFill>
          </a:ln>
        </p:spPr>
        <p:txBody>
          <a:bodyPr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495300" y="285750"/>
            <a:ext cx="11144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项目逻辑与数据体系：前期扰动表达模型，为当前直接药敏排序提供技术基础</a:t>
            </a:r>
            <a:endParaRPr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514350" y="781050"/>
            <a:ext cx="11049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125" b="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53616B"/>
                </a:solidFill>
                <a:latin typeface="Arial"/>
                <a:ea typeface="Arial"/>
                <a:cs typeface="Arial"/>
              </a:rPr>
              <a:t>不同数据承担不同任务，不能混为一个训练集</a:t>
            </a:r>
            <a:endParaRPr/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495300" y="1181100"/>
            <a:ext cx="11201400" cy="838200"/>
          </a:xfrm>
          <a:prstGeom prst="roundRect">
            <a:avLst>
              <a:gd name="adj" fmla="val 9091"/>
            </a:avLst>
          </a:prstGeom>
          <a:solidFill>
            <a:srgbClr val="EEF4F7"/>
          </a:solidFill>
          <a:ln w="0">
            <a:solidFill>
              <a:srgbClr val="EEF4F7"/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TranSiGen/DPR 预测药物处理后的表达变化，再用疾病签名计算逆转程度；当前项目直接回答“这个 PDO 应优先测试哪些单药”。前期表达编码、药物编码和身份审计可以复用，但当前模型必须接受真实单药反应监督，并在未见患者上评价排序。</a:t>
            </a:r>
            <a:endParaRPr/>
          </a:p>
        </p:txBody>
      </p:sp>
      <p:graphicFrame>
        <p:nvGraphicFramePr>
          <p:cNvPr id="13" name=""/>
          <p:cNvGraphicFramePr/>
          <p:nvPr/>
        </p:nvGraphicFramePr>
        <p:xfrm>
          <a:off x="495300" y="2057400"/>
          <a:ext cx="11201400" cy="3657600"/>
        </p:xfrm>
        <a:graphic>
          <a:graphicData uri="http://schemas.openxmlformats.org/drawingml/2006/table">
            <a:tbl>
              <a:tblPr firstRow="1" bandRow="1"/>
              <a:tblGrid>
                <a:gridCol w="3733800">
                  <a:extLst>
                    <a:ext uri="{9D8B030D-6E8A-4147-A177-3AD203B41FA5}">
                      <a16:colId val="1"/>
                    </a:ext>
                  </a:extLst>
                </a:gridCol>
                <a:gridCol w="3733800">
                  <a:extLst>
                    <a:ext uri="{9D8B030D-6E8A-4147-A177-3AD203B41FA5}">
                      <a16:colId val="2"/>
                    </a:ext>
                  </a:extLst>
                </a:gridCol>
                <a:gridCol w="3733800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数据/前期资产</a:t>
                      </a:r>
                      <a:endParaRPr/>
                    </a:p>
                  </a:txBody>
                  <a:tcPr marL="50800" marR="50800" marT="25400" marB="25400" anchor="t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类型与规模</a:t>
                      </a:r>
                      <a:endParaRPr/>
                    </a:p>
                  </a:txBody>
                  <a:tcPr marL="50800" marR="50800" marT="25400" marB="25400" anchor="t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在当前项目中的作用</a:t>
                      </a:r>
                      <a:endParaRPr/>
                    </a:p>
                  </a:txBody>
                  <a:tcPr marL="50800" marR="50800" marT="25400" marB="25400" anchor="t">
                    <a:solidFill>
                      <a:srgbClr val="2F6B8A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LINCS与DPR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>
                          <a:latin typeface="Arial"/>
                        </a:rPr>
                        <a:t>GSE92742 Level-3 exact-978 landmark空间；SDST子集78,453×978（10 μM/24 h）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提供扰动预测、表达编码和药物编码基础；不作为当前PDO药敏真值</a:t>
                      </a:r>
                      <a:endParaRPr/>
                    </a:p>
                  </a:txBody>
                  <a:tcPr marL="50800" marR="50800" marT="25400" marB="25400" anchor="t"/>
                </a:tc>
                <a:extLst>
                  <a:ext uri="{0D108BD9-81ED-4DB2-BD59-A6C34878D82A}">
                    <a16:rowId val="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GDSC来源药敏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963细胞系；219个结构唯一药物；179,410条药物反应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训练来源模型，检验表达能否解释不同细胞对同一药物的差异</a:t>
                      </a:r>
                      <a:endParaRPr/>
                    </a:p>
                  </a:txBody>
                  <a:tcPr marL="50800" marR="50800" marT="25400" marB="25400" anchor="t"/>
                </a:tc>
                <a:extLst>
                  <a:ext uri="{0D108BD9-81ED-4DB2-BD59-A6C34878D82A}">
                    <a16:rowId val="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公开肝胆癌PDO开发队列（Zhu）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20个患者来源类器官；54种药物；1,080条药敏测量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用于患者留出开发验证；Zhu是数据论文作者简称，不代表一种算法</a:t>
                      </a:r>
                      <a:endParaRPr/>
                    </a:p>
                  </a:txBody>
                  <a:tcPr marL="50800" marR="50800" marT="25400" marB="25400" anchor="t"/>
                </a:tc>
                <a:extLst>
                  <a:ext uri="{0D108BD9-81ED-4DB2-BD59-A6C34878D82A}">
                    <a16:rowId val="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三篇Nature资源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NextGen三维模型；HCMI肿瘤—模型配对；类器官CRISPR功能库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分别用于域差异、表达保持度和功能辅助，不直接替代单药反应标签</a:t>
                      </a:r>
                      <a:endParaRPr/>
                    </a:p>
                  </a:txBody>
                  <a:tcPr marL="50800" marR="50800" marT="25400" marB="25400" anchor="t"/>
                </a:tc>
                <a:extLst>
                  <a:ext uri="{0D108BD9-81ED-4DB2-BD59-A6C34878D82A}">
                    <a16:rowId val="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PRISM外部药敏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354个严格未见细胞；104个与GDSC共同药物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测试来源表达信号能否跨药敏研究复现</a:t>
                      </a:r>
                      <a:endParaRPr/>
                    </a:p>
                  </a:txBody>
                  <a:tcPr marL="50800" marR="50800" marT="25400" marB="25400" anchor="t"/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14" name=""/>
          <p:cNvSpPr>
            <a:spLocks noGrp="1"/>
          </p:cNvSpPr>
          <p:nvPr/>
        </p:nvSpPr>
        <p:spPr>
          <a:xfrm>
            <a:off x="552450" y="6115050"/>
            <a:ext cx="11049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本页结论：前期TranSiGen/DPR提供了表达编码、药物编码和数据审计基础，但当前任务是新的直接药敏排序问题，前期扰动预测不能直接当作PDO药敏验证。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bg>
      <p:bgPr>
        <a:solidFill>
          <a:srgbClr val="FFFFFF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F6B8A"/>
          </a:solidFill>
          <a:ln w="0">
            <a:solidFill>
              <a:srgbClr val="2F6B8A"/>
            </a:solidFill>
          </a:ln>
        </p:spPr>
        <p:txBody>
          <a:bodyPr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495300" y="285750"/>
            <a:ext cx="11144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药物身份审计：54个PDO药物中，只有7个能与GDSC做严格化学身份对齐</a:t>
            </a:r>
            <a:endParaRPr/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514350" y="781050"/>
            <a:ext cx="11049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125" b="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53616B"/>
                </a:solidFill>
                <a:latin typeface="Arial"/>
                <a:ea typeface="Arial"/>
                <a:cs typeface="Arial"/>
              </a:rPr>
              <a:t>这是数据身份和可比性边界，不是删除54个PDO药敏数据</a:t>
            </a:r>
            <a:endParaRPr/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495300" y="1181100"/>
            <a:ext cx="11201400" cy="895350"/>
          </a:xfrm>
          <a:prstGeom prst="roundRect">
            <a:avLst>
              <a:gd name="adj" fmla="val 8511"/>
            </a:avLst>
          </a:prstGeom>
          <a:solidFill>
            <a:srgbClr val="EEF4F7"/>
          </a:solidFill>
          <a:ln w="0">
            <a:solidFill>
              <a:srgbClr val="EEF4F7"/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目标队列的54种药物都有PDO药敏记录和可解析结构。与GDSC的严格匹配只解决“是不是同一个化合物”，并不能解决“是不是同一种疾病背景、同一种实验体系”。项目用完整InChIKey核对连接、立体化学和质子层，避免把名称相同但结构不同的盐型、立体异构体或制剂误当成同一药物。</a:t>
            </a:r>
            <a:endParaRPr/>
          </a:p>
        </p:txBody>
      </p:sp>
      <p:graphicFrame>
        <p:nvGraphicFramePr>
          <p:cNvPr id="20" name=""/>
          <p:cNvGraphicFramePr/>
          <p:nvPr/>
        </p:nvGraphicFramePr>
        <p:xfrm>
          <a:off x="495300" y="2057400"/>
          <a:ext cx="11201400" cy="3657600"/>
        </p:xfrm>
        <a:graphic>
          <a:graphicData uri="http://schemas.openxmlformats.org/drawingml/2006/table">
            <a:tbl>
              <a:tblPr firstRow="1" bandRow="1"/>
              <a:tblGrid>
                <a:gridCol w="3733800">
                  <a:extLst>
                    <a:ext uri="{9D8B030D-6E8A-4147-A177-3AD203B41FA5}">
                      <a16:colId val="1"/>
                    </a:ext>
                  </a:extLst>
                </a:gridCol>
                <a:gridCol w="3733800">
                  <a:extLst>
                    <a:ext uri="{9D8B030D-6E8A-4147-A177-3AD203B41FA5}">
                      <a16:colId val="2"/>
                    </a:ext>
                  </a:extLst>
                </a:gridCol>
                <a:gridCol w="3733800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审计步骤</a:t>
                      </a:r>
                      <a:endParaRPr/>
                    </a:p>
                  </a:txBody>
                  <a:tcPr marL="50800" marR="50800" marT="25400" marB="25400" anchor="t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发现的数据情况</a:t>
                      </a:r>
                      <a:endParaRPr/>
                    </a:p>
                  </a:txBody>
                  <a:tcPr marL="50800" marR="50800" marT="25400" marB="25400" anchor="t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对结果的影响</a:t>
                      </a:r>
                      <a:endParaRPr/>
                    </a:p>
                  </a:txBody>
                  <a:tcPr marL="50800" marR="50800" marT="25400" marB="25400" anchor="t">
                    <a:solidFill>
                      <a:srgbClr val="2F6B8A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恢复目标药物结构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>
                          <a:latin typeface="Arial"/>
                        </a:rPr>
                        <a:t>作者进一步筛选表共64种候选；首版按保守结构规则纳入33种；经作者货号一对一连接与结构复核补充确认21种（含3种去反离子盐型），最终纳入54种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最终整理出54种药物、20个患者来源类器官和1,080条药敏测量</a:t>
                      </a:r>
                      <a:endParaRPr/>
                    </a:p>
                  </a:txBody>
                  <a:tcPr marL="50800" marR="50800" marT="25400" marB="25400" anchor="t"/>
                </a:tc>
                <a:extLst>
                  <a:ext uri="{0D108BD9-81ED-4DB2-BD59-A6C34878D82A}">
                    <a16:rowId val="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与来源药物做化学身份对齐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GDSC约219个结构唯一药物；目标54药中仅7药具有完全相同InChIKey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只有这7药可以做跨资源的探索性敏感性检查；不能单独作为正式迁移验证</a:t>
                      </a:r>
                      <a:endParaRPr/>
                    </a:p>
                  </a:txBody>
                  <a:tcPr marL="50800" marR="50800" marT="25400" marB="25400" anchor="t"/>
                </a:tc>
                <a:extLst>
                  <a:ext uri="{0D108BD9-81ED-4DB2-BD59-A6C34878D82A}">
                    <a16:rowId val="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为什么其余药物没有进入迁移主表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多数目标药物在GDSC不存在；部分为盐/水合物/有机对离子或立体结构不同；Piperlongumine名称相同但完整InChIKey不同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其余47药仍可做PDO自身模型或目标域探索；它们没有GDSC对应标签，不能用于来源—目标的直接对照</a:t>
                      </a:r>
                      <a:endParaRPr/>
                    </a:p>
                  </a:txBody>
                  <a:tcPr marL="50800" marR="50800" marT="25400" marB="25400" anchor="t"/>
                </a:tc>
                <a:extLst>
                  <a:ext uri="{0D108BD9-81ED-4DB2-BD59-A6C34878D82A}">
                    <a16:rowId val="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是否还能扩大交集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可继续核验母体结构、别名、货号和立体结构，并引入CTRP/PRISM等来源药敏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需要预先冻结映射规则后重建；不能根据模型成绩选择合并方式</a:t>
                      </a:r>
                      <a:endParaRPr/>
                    </a:p>
                  </a:txBody>
                  <a:tcPr marL="50800" marR="50800" marT="25400" marB="25400" anchor="t"/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21" name=""/>
          <p:cNvSpPr>
            <a:spLocks noGrp="1"/>
          </p:cNvSpPr>
          <p:nvPr/>
        </p:nvSpPr>
        <p:spPr>
          <a:xfrm>
            <a:off x="552450" y="577215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4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7药结果采用前3名排序分数，只表示在这7个化合物上做了探索性排序检查。由于GDSC与PDO不是同一疾病和同一实验体系，该结果不能证明生物学迁移有效；正式迁移需要同癌种或独立配对PDO队列。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bg>
      <p:bgPr>
        <a:solidFill>
          <a:srgbClr val="FFFFFF"/>
        </a:solidFill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F6B8A"/>
          </a:solidFill>
          <a:ln w="0">
            <a:solidFill>
              <a:srgbClr val="2F6B8A"/>
            </a:solidFill>
          </a:ln>
        </p:spPr>
        <p:txBody>
          <a:bodyPr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495300" y="285750"/>
            <a:ext cx="11144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lang="zh-CN" sz="2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实验分析：背景、目标、方法、结果与结论</a:t>
            </a:r>
            <a:endParaRPr lang="zh-CN" sz="2175" b="1">
              <a:solidFill>
                <a:srgbClr val="17324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/>
          <p:cNvSpPr>
            <a:spLocks noGrp="1"/>
          </p:cNvSpPr>
          <p:nvPr/>
        </p:nvSpPr>
        <p:spPr>
          <a:xfrm>
            <a:off x="514350" y="781050"/>
            <a:ext cx="11049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r>
              <a:rPr sz="1200">
                <a:latin typeface="Arial"/>
              </a:rPr>
              <a:t>本页按五个环节叙述实验：先说明为什么做，再说明要回答什么、怎么做、得到什么结果，最后给出项目判断。</a:t>
            </a:r>
          </a:p>
        </p:txBody>
      </p:sp>
      <p:sp>
        <p:nvSpPr>
          <p:cNvPr id="26" name=""/>
          <p:cNvSpPr>
            <a:spLocks noGrp="1"/>
          </p:cNvSpPr>
          <p:nvPr/>
        </p:nvSpPr>
        <p:spPr>
          <a:xfrm>
            <a:off x="495300" y="1181100"/>
            <a:ext cx="11201400" cy="838200"/>
          </a:xfrm>
          <a:prstGeom prst="roundRect">
            <a:avLst>
              <a:gd name="adj" fmla="val 9091"/>
            </a:avLst>
          </a:prstGeom>
          <a:solidFill>
            <a:srgbClr val="EEF4F7"/>
          </a:solidFill>
          <a:ln w="0">
            <a:solidFill>
              <a:srgbClr val="EEF4F7"/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本页按五个环节叙述实验：先说明为什么做，再说明要回答什么、怎么做、得到什么结果，最后给出项目判断。</a:t>
            </a:r>
            <a:endParaRPr/>
          </a:p>
        </p:txBody>
      </p:sp>
      <p:graphicFrame>
        <p:nvGraphicFramePr>
          <p:cNvPr id="27" name=""/>
          <p:cNvGraphicFramePr/>
          <p:nvPr/>
        </p:nvGraphicFramePr>
        <p:xfrm>
          <a:off x="495300" y="2148840"/>
          <a:ext cx="10744202" cy="3703320"/>
        </p:xfrm>
        <a:graphic>
          <a:graphicData uri="http://schemas.openxmlformats.org/drawingml/2006/table">
            <a:tbl>
              <a:tblPr firstRow="1" bandRow="1"/>
              <a:tblGrid>
                <a:gridCol w="1417320">
                  <a:extLst>
                    <a:ext uri="{9D8B030D-6E8A-4147-A177-3AD203B41FA5}">
                      <a16:colId val="1"/>
                    </a:ext>
                  </a:extLst>
                </a:gridCol>
                <a:gridCol w="9326880">
                  <a:extLst>
                    <a:ext uri="{9D8B030D-6E8A-4147-A177-3AD203B41FA5}">
                      <a16:colId val="2"/>
                    </a:ext>
                  </a:extLst>
                </a:gridCol>
                <a:gridCol w="1">
                  <a:extLst>
                    <a:ext uri="{9D8B030D-6E8A-4147-A177-3AD203B41FA5}">
                      <a16:colId val="3"/>
                    </a:ext>
                  </a:extLst>
                </a:gridCol>
                <a:gridCol w="1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61721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latin typeface="Arial"/>
                        </a:rPr>
                        <a:t>分析环节</a:t>
                      </a:r>
                    </a:p>
                  </a:txBody>
                  <a:tcPr marL="63500" marR="63500" marT="38100" marB="38100" anchor="t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latin typeface="Arial"/>
                        </a:rPr>
                        <a:t>本环节说明</a:t>
                      </a:r>
                    </a:p>
                  </a:txBody>
                  <a:tcPr marL="63500" marR="63500" marT="38100" marB="38100" anchor="t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latin typeface="Arial"/>
                        </a:rPr>
                        <a:t>关键结果</a:t>
                      </a:r>
                    </a:p>
                  </a:txBody>
                  <a:tcPr marL="50800" marR="50800" marT="25400" marB="25400" anchor="t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latin typeface="Arial"/>
                        </a:rPr>
                        <a:t>结论</a:t>
                      </a:r>
                    </a:p>
                  </a:txBody>
                  <a:tcPr marL="50800" marR="50800" marT="25400" marB="25400" anchor="t">
                    <a:solidFill>
                      <a:srgbClr val="2F6B8A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1721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latin typeface="Arial"/>
                        </a:rPr>
                        <a:t>背景</a:t>
                      </a:r>
                    </a:p>
                  </a:txBody>
                  <a:tcPr marL="63500" marR="63500" marT="38100" marB="381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latin typeface="Arial"/>
                        </a:rPr>
                        <a:t>本项目要判断：来源细胞系中学到的药物反应规律，能否帮助患者来源类器官进行单药排序。由于绝对排序分数会受到药物整体强弱影响，必须同时与“按药物平均反应排序”的简单方法比较。</a:t>
                      </a:r>
                    </a:p>
                  </a:txBody>
                  <a:tcPr marL="63500" marR="63500" marT="38100" marB="381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latin typeface="Arial"/>
                        </a:rPr>
                        <a:t>平均排序分数：0.9559 → 0.9633、0.9651、0.9676；三次均提高0.0074—0.0117</a:t>
                      </a:r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latin typeface="Arial"/>
                        </a:rPr>
                        <a:t>在来源数据中，表达信息带来小幅、稳定的改善；绝对分数仍受药物整体强弱影响</a:t>
                      </a:r>
                    </a:p>
                  </a:txBody>
                  <a:tcPr marL="50800" marR="50800" marT="25400" marB="25400" anchor="t"/>
                </a:tc>
                <a:extLst>
                  <a:ext uri="{0D108BD9-81ED-4DB2-BD59-A6C34878D82A}">
                    <a16:rowId val="2"/>
                  </a:ext>
                </a:extLst>
              </a:tr>
              <a:tr h="61721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latin typeface="Arial"/>
                        </a:rPr>
                        <a:t>目标</a:t>
                      </a:r>
                    </a:p>
                  </a:txBody>
                  <a:tcPr marL="63500" marR="63500" marT="38100" marB="381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latin typeface="Arial"/>
                        </a:rPr>
                        <a:t>分别回答三个问题：来源细胞系模型在本来源数据中是否真正使用了表达信息；54种药物的PDO数据能否学习患者个体差异；外部功能数据能否进一步改善药物推荐。</a:t>
                      </a:r>
                    </a:p>
                  </a:txBody>
                  <a:tcPr marL="63500" marR="63500" marT="38100" marB="381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latin typeface="Arial"/>
                        </a:rPr>
                        <a:t>平均排序分数：0.8512 → 0.8523；平均只提高0.0011；约43%患者改善</a:t>
                      </a:r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latin typeface="Arial"/>
                        </a:rPr>
                        <a:t>54种药物可以支持PDO内部评价，但个体化改善很小，尚未稳定超过简单方法</a:t>
                      </a:r>
                    </a:p>
                  </a:txBody>
                  <a:tcPr marL="50800" marR="50800" marT="25400" marB="25400" anchor="t"/>
                </a:tc>
                <a:extLst>
                  <a:ext uri="{0D108BD9-81ED-4DB2-BD59-A6C34878D82A}">
                    <a16:rowId val="3"/>
                  </a:ext>
                </a:extLst>
              </a:tr>
              <a:tr h="61721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latin typeface="Arial"/>
                        </a:rPr>
                        <a:t>方法</a:t>
                      </a:r>
                    </a:p>
                  </a:txBody>
                  <a:tcPr marL="63500" marR="63500" marT="38100" marB="381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latin typeface="Arial"/>
                        </a:rPr>
                        <a:t>来源数据：963个细胞系、219种药物，比较“药物平均反应排序”和“表达信息+药物结构信息模型”。PDO数据：20个患者来源类器官、54种药物，采用患者留出验证。另在7种共同药物上做跨资源探索性检查，并分析外部类器官功能数据。</a:t>
                      </a:r>
                    </a:p>
                  </a:txBody>
                  <a:tcPr marL="63500" marR="63500" marT="38100" marB="381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latin typeface="Arial"/>
                        </a:rPr>
                        <a:t>前三名排序分数：0.7476、0.6696、0.5600、0.6514；学习模型均低于简单平均</a:t>
                      </a:r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latin typeface="Arial"/>
                        </a:rPr>
                        <a:t>只能进行跨资源探索性检查；疾病和实验平台不同，不能据此证明迁移有效</a:t>
                      </a:r>
                    </a:p>
                  </a:txBody>
                  <a:tcPr marL="50800" marR="50800" marT="25400" marB="25400" anchor="t"/>
                </a:tc>
                <a:extLst>
                  <a:ext uri="{0D108BD9-81ED-4DB2-BD59-A6C34878D82A}">
                    <a16:rowId val="4"/>
                  </a:ext>
                </a:extLst>
              </a:tr>
              <a:tr h="61721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latin typeface="Arial"/>
                        </a:rPr>
                        <a:t>结果</a:t>
                      </a:r>
                    </a:p>
                  </a:txBody>
                  <a:tcPr marL="63500" marR="63500" marT="38100" marB="381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latin typeface="Arial"/>
                        </a:rPr>
                        <a:t>来源数据排序分数由0.9559提高到0.9633、0.9651、0.9676，三次均提高0.0074—0.0117；属于小幅稳定改善。PDO完整面板为0.8512对0.8523，平均只提高0.0011，约43%患者改善；7种共同药物上学习模型低于0.7476的简单平均排序；功能数据辅助最高0.6778，也低于简单方法0.7476。</a:t>
                      </a:r>
                    </a:p>
                  </a:txBody>
                  <a:tcPr marL="63500" marR="63500" marT="38100" marB="381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latin typeface="Arial"/>
                        </a:rPr>
                        <a:t>依赖预测误差：简单平均0.3798，线性模型0.4532，神经网络0.3952；辅助药敏排序最高0.6778，低于简单平均0.7476</a:t>
                      </a:r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latin typeface="Arial"/>
                        </a:rPr>
                        <a:t>当前样本没有形成可靠的功能个体化信号；功能数据暂作辅助解释，不作为主模型改进</a:t>
                      </a:r>
                    </a:p>
                  </a:txBody>
                  <a:tcPr marL="50800" marR="50800" marT="25400" marB="25400" anchor="t"/>
                </a:tc>
                <a:extLst>
                  <a:ext uri="{0D108BD9-81ED-4DB2-BD59-A6C34878D82A}">
                    <a16:rowId val="5"/>
                  </a:ext>
                </a:extLst>
              </a:tr>
              <a:tr h="617219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latin typeface="Arial"/>
                        </a:rPr>
                        <a:t>结论</a:t>
                      </a:r>
                    </a:p>
                  </a:txBody>
                  <a:tcPr marL="63500" marR="63500" marT="38100" marB="381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latin typeface="Arial"/>
                        </a:rPr>
                        <a:t>来源数据中存在有限的表达相关信号，但当前PDO数据没有显示稳定的患者个体化增益；7种共同药物只能做跨资源探索性检查，不能证明跨疾病迁移。下一步应优先补充同癌种或第二个独立PDO队列。</a:t>
                      </a:r>
                    </a:p>
                  </a:txBody>
                  <a:tcPr marL="63500" marR="63500" marT="38100" marB="381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>
                          <a:latin typeface="Arial"/>
                        </a:rPr>
                        <a:t>各条件NDCG@3依次为：N0 0.6514、N1重建0.6740、N3依赖0.6778、关闭依赖0.6740、置换标签0.6676；均低于B0均值0.7476；真实依赖比关闭依赖仅高0.0037</a:t>
                      </a:r>
                      <a:endParaRPr/>
                    </a:p>
                  </a:txBody>
                  <a:tcPr marL="50800" marR="50800" marT="25400" marB="254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>
                          <a:latin typeface="Arial"/>
                        </a:rPr>
                        <a:t>真实功能标签只有极小增量，表达重建与关闭依赖持平，最终仍低于基线；目前属于方向性线索，不是可采用的模型改进；单种子开发结果，多种子复制未完成，未达推进N2/N4/N5/M5门槛</a:t>
                      </a:r>
                      <a:endParaRPr/>
                    </a:p>
                  </a:txBody>
                  <a:tcPr marL="50800" marR="50800" marT="25400" marB="25400" anchor="t"/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28" name=""/>
          <p:cNvSpPr>
            <a:spLocks noGrp="1"/>
          </p:cNvSpPr>
          <p:nvPr/>
        </p:nvSpPr>
        <p:spPr>
          <a:xfrm>
            <a:off x="552450" y="5989320"/>
            <a:ext cx="11049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lang="zh-CN" sz="1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本页结论：GDSC双编码模型在一个细胞划分上取得初始化稳定的小幅改善；Zhu严格共同药口径下，仅用PDO数据训练与迁移模型均未超过患者药物均值基线，高绝对分数主要来自药物整体强弱；外部类器官功能数据辅助模型同样低于基线，仅有方向性线索。</a:t>
            </a:r>
            <a:endParaRPr sz="1200" b="1">
              <a:solidFill>
                <a:srgbClr val="17324D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bg>
      <p:bgPr>
        <a:solidFill>
          <a:srgbClr val="FFFFFF"/>
        </a:solidFill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F6B8A"/>
          </a:solidFill>
          <a:ln w="0">
            <a:solidFill>
              <a:srgbClr val="2F6B8A"/>
            </a:solidFill>
          </a:ln>
        </p:spPr>
        <p:txBody>
          <a:bodyPr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</a:p>
        </p:txBody>
      </p:sp>
      <p:sp>
        <p:nvSpPr>
          <p:cNvPr id="31" name=""/>
          <p:cNvSpPr>
            <a:spLocks noGrp="1"/>
          </p:cNvSpPr>
          <p:nvPr/>
        </p:nvSpPr>
        <p:spPr>
          <a:xfrm>
            <a:off x="495300" y="285750"/>
            <a:ext cx="11144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外部类器官数据与既有验证案例的价值与下一步决策（辅助证据，不替代PDO药敏验证）</a:t>
            </a:r>
            <a:endParaRPr/>
          </a:p>
        </p:txBody>
      </p:sp>
      <p:sp>
        <p:nvSpPr>
          <p:cNvPr id="32" name=""/>
          <p:cNvSpPr>
            <a:spLocks noGrp="1"/>
          </p:cNvSpPr>
          <p:nvPr/>
        </p:nvSpPr>
        <p:spPr>
          <a:xfrm>
            <a:off x="514350" y="781050"/>
            <a:ext cx="11049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125" b="0">
                <a:solidFill>
                  <a:srgbClr val="53616B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53616B"/>
                </a:solidFill>
                <a:latin typeface="Arial"/>
                <a:ea typeface="Arial"/>
                <a:cs typeface="Arial"/>
              </a:rPr>
              <a:t>外部论文和既有类器官案例提供辅助证据，不能替代当前PDO药敏验证。</a:t>
            </a:r>
            <a:endParaRPr/>
          </a:p>
        </p:txBody>
      </p:sp>
      <p:sp>
        <p:nvSpPr>
          <p:cNvPr id="33" name=""/>
          <p:cNvSpPr>
            <a:spLocks noGrp="1"/>
          </p:cNvSpPr>
          <p:nvPr/>
        </p:nvSpPr>
        <p:spPr>
          <a:xfrm>
            <a:off x="495300" y="1181100"/>
            <a:ext cx="11201400" cy="819150"/>
          </a:xfrm>
          <a:prstGeom prst="roundRect">
            <a:avLst>
              <a:gd name="adj" fmla="val 9302"/>
            </a:avLst>
          </a:prstGeom>
          <a:solidFill>
            <a:srgbClr val="EEF4F7"/>
          </a:solidFill>
          <a:ln w="0">
            <a:solidFill>
              <a:srgbClr val="EEF4F7"/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三篇论文共同说明二维细胞系与三维患者来源模型既有共享规律，也有培养体系和细胞状态差异。这为跨模型迁移提供理论依据；本周进一步核验了数据能否实际取得、配对、用于微调或承担验证。</a:t>
            </a:r>
            <a:endParaRPr/>
          </a:p>
        </p:txBody>
      </p:sp>
      <p:graphicFrame>
        <p:nvGraphicFramePr>
          <p:cNvPr id="34" name=""/>
          <p:cNvGraphicFramePr/>
          <p:nvPr/>
        </p:nvGraphicFramePr>
        <p:xfrm>
          <a:off x="495300" y="1965960"/>
          <a:ext cx="11201400" cy="3703320"/>
        </p:xfrm>
        <a:graphic>
          <a:graphicData uri="http://schemas.openxmlformats.org/drawingml/2006/table">
            <a:tbl>
              <a:tblPr firstRow="1" bandRow="1"/>
              <a:tblGrid>
                <a:gridCol w="2800350">
                  <a:extLst>
                    <a:ext uri="{9D8B030D-6E8A-4147-A177-3AD203B41FA5}">
                      <a16:colId val="1"/>
                    </a:ext>
                  </a:extLst>
                </a:gridCol>
                <a:gridCol w="2800350">
                  <a:extLst>
                    <a:ext uri="{9D8B030D-6E8A-4147-A177-3AD203B41FA5}">
                      <a16:colId val="2"/>
                    </a:ext>
                  </a:extLst>
                </a:gridCol>
                <a:gridCol w="2800350">
                  <a:extLst>
                    <a:ext uri="{9D8B030D-6E8A-4147-A177-3AD203B41FA5}">
                      <a16:colId val="3"/>
                    </a:ext>
                  </a:extLst>
                </a:gridCol>
                <a:gridCol w="2800350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74066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latin typeface="Arial"/>
                        </a:rPr>
                        <a:t>外部证据/数据</a:t>
                      </a:r>
                    </a:p>
                  </a:txBody>
                  <a:tcPr marL="38100" marR="38100" marT="12700" marB="12700" anchor="t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latin typeface="Arial"/>
                        </a:rPr>
                        <a:t>实际做了什么</a:t>
                      </a:r>
                    </a:p>
                  </a:txBody>
                  <a:tcPr marL="38100" marR="38100" marT="12700" marB="12700" anchor="t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latin typeface="Arial"/>
                        </a:rPr>
                        <a:t>结果</a:t>
                      </a:r>
                    </a:p>
                  </a:txBody>
                  <a:tcPr marL="38100" marR="38100" marT="12700" marB="12700" anchor="t">
                    <a:solidFill>
                      <a:srgbClr val="2F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latin typeface="Arial"/>
                        </a:rPr>
                        <a:t>对当前项目的意义</a:t>
                      </a:r>
                    </a:p>
                  </a:txBody>
                  <a:tcPr marL="38100" marR="38100" marT="12700" marB="12700" anchor="t">
                    <a:solidFill>
                      <a:srgbClr val="2F6B8A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0">
                          <a:latin typeface="Arial"/>
                        </a:rPr>
                        <a:t>三篇外部类器官论文数据</a:t>
                      </a:r>
                    </a:p>
                  </a:txBody>
                  <a:tcPr marL="38100" marR="38100" marT="12700" marB="127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0">
                          <a:latin typeface="Arial"/>
                        </a:rPr>
                        <a:t>核对三类资源是否有表达、功能依赖或患者来源配对数据；其中一类已完成162个模型、157位患者配对</a:t>
                      </a:r>
                    </a:p>
                  </a:txBody>
                  <a:tcPr marL="38100" marR="38100" marT="12700" marB="127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0">
                          <a:latin typeface="Arial"/>
                        </a:rPr>
                        <a:t>功能预测和辅助药敏排序均未稳定超过简单平均；真实功能标签带来的额外排序增益仅0.0037</a:t>
                      </a:r>
                    </a:p>
                  </a:txBody>
                  <a:tcPr marL="38100" marR="38100" marT="12700" marB="127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0">
                          <a:latin typeface="Arial"/>
                        </a:rPr>
                        <a:t>可作功能解释和培养体系差异证据，暂不足以改进主药敏模型</a:t>
                      </a:r>
                    </a:p>
                  </a:txBody>
                  <a:tcPr marL="38100" marR="38100" marT="12700" marB="12700" anchor="t"/>
                </a:tc>
                <a:extLst>
                  <a:ext uri="{0D108BD9-81ED-4DB2-BD59-A6C34878D82A}">
                    <a16:rowId val="2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0">
                          <a:latin typeface="Arial"/>
                        </a:rPr>
                        <a:t>结直肠癌类器官外部案例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0">
                          <a:latin typeface="Arial"/>
                        </a:rPr>
                        <a:t>52位患者、29种药物</a:t>
                      </a:r>
                    </a:p>
                  </a:txBody>
                  <a:tcPr marL="38100" marR="38100" marT="12700" marB="127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0">
                          <a:latin typeface="Arial"/>
                        </a:rPr>
                        <a:t>细胞系药敏模型先训练，再用结直肠癌类器官药敏数据微调；5折患者留出</a:t>
                      </a:r>
                    </a:p>
                  </a:txBody>
                  <a:tcPr marL="38100" marR="38100" marT="12700" marB="127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0">
                          <a:latin typeface="Arial"/>
                        </a:rPr>
                        <a:t>微调后排序相关性提高0.2486；前5名排序分数提高0.051；平均绝对误差改善59.3%；但最终得分0.728仍低于患者药物中位数0.751</a:t>
                      </a:r>
                    </a:p>
                  </a:txBody>
                  <a:tcPr marL="38100" marR="38100" marT="12700" marB="127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0">
                          <a:latin typeface="Arial"/>
                        </a:rPr>
                        <a:t>说明“来源模型+患者数据微调”在同癌种案例中有可行性，但不能直接替代当前队列验证</a:t>
                      </a:r>
                    </a:p>
                  </a:txBody>
                  <a:tcPr marL="38100" marR="38100" marT="12700" marB="12700" anchor="t"/>
                </a:tc>
                <a:extLst>
                  <a:ext uri="{0D108BD9-81ED-4DB2-BD59-A6C34878D82A}">
                    <a16:rowId val="3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0">
                          <a:latin typeface="Arial"/>
                        </a:rPr>
                        <a:t>乳腺癌类器官冻结外推</a:t>
                      </a:r>
                    </a:p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0">
                          <a:latin typeface="Arial"/>
                        </a:rPr>
                        <a:t>7个类器官、21个方向比较</a:t>
                      </a:r>
                    </a:p>
                  </a:txBody>
                  <a:tcPr marL="38100" marR="38100" marT="12700" marB="127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0">
                          <a:latin typeface="Arial"/>
                        </a:rPr>
                        <a:t>固定模型后直接预测，不用乳腺癌药敏标签调整；比较含顺铂组合的方向</a:t>
                      </a:r>
                    </a:p>
                  </a:txBody>
                  <a:tcPr marL="38100" marR="38100" marT="12700" marB="127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0">
                          <a:latin typeface="Arial"/>
                        </a:rPr>
                        <a:t>排序相关性0.429，21个方向中14个一致；未微调模型相关性−0.107，9个一致</a:t>
                      </a:r>
                    </a:p>
                  </a:txBody>
                  <a:tcPr marL="38100" marR="38100" marT="12700" marB="127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0">
                          <a:latin typeface="Arial"/>
                        </a:rPr>
                        <a:t>只在含顺铂组合方向上提供有限支持，样本太小，不能推广到单药或临床疗效</a:t>
                      </a:r>
                    </a:p>
                  </a:txBody>
                  <a:tcPr marL="38100" marR="38100" marT="12700" marB="12700" anchor="t"/>
                </a:tc>
                <a:extLst>
                  <a:ext uri="{0D108BD9-81ED-4DB2-BD59-A6C34878D82A}">
                    <a16:rowId val="4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0">
                          <a:latin typeface="Arial"/>
                        </a:rPr>
                        <a:t>对当前主线的决定</a:t>
                      </a:r>
                    </a:p>
                  </a:txBody>
                  <a:tcPr marL="38100" marR="38100" marT="12700" marB="127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0">
                          <a:latin typeface="Arial"/>
                        </a:rPr>
                        <a:t>将外部案例与当前54种药物PDO分析、7种共同药物探索性检查并列判断</a:t>
                      </a:r>
                    </a:p>
                  </a:txBody>
                  <a:tcPr marL="38100" marR="38100" marT="12700" marB="127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0">
                          <a:latin typeface="Arial"/>
                        </a:rPr>
                        <a:t>当前PDO模型仅略高于简单平均；跨资源结果受疾病和平台差异影响；Nature辅助增益很小</a:t>
                      </a:r>
                    </a:p>
                  </a:txBody>
                  <a:tcPr marL="38100" marR="38100" marT="12700" marB="12700" anchor="t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0">
                          <a:latin typeface="Arial"/>
                        </a:rPr>
                        <a:t>下一步优先同癌种或第二独立PDO队列，并完成外部药敏数据验证；暂不增加复杂网络</a:t>
                      </a:r>
                    </a:p>
                  </a:txBody>
                  <a:tcPr marL="38100" marR="38100" marT="12700" marB="12700" anchor="t"/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35" name=""/>
          <p:cNvSpPr>
            <a:spLocks noGrp="1"/>
          </p:cNvSpPr>
          <p:nvPr/>
        </p:nvSpPr>
        <p:spPr>
          <a:xfrm>
            <a:off x="552450" y="6115050"/>
            <a:ext cx="11049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本页结论：外部案例说明“来源模型加患者数据微调”在同癌种条件下有可行性，但当前数据仍不足以证明跨疾病迁移；下一步应优先补充同癌种或独立PDO队列。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2026-09-14T02:06:05Z</dcterms:created>
  <dcterms:modified xsi:type="dcterms:W3CDTF">2026-09-14T02:06:05Z</dcterms:modified>
</cp:coreProperties>
</file>